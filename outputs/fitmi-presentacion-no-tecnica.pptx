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f4250e9620d47d9" /><Relationship Type="http://schemas.openxmlformats.org/officeDocument/2006/relationships/extended-properties" Target="/docProps/app.xml" Id="Rc0f13574da424c45" /><Relationship Type="http://schemas.openxmlformats.org/officeDocument/2006/relationships/officeDocument" Target="/ppt/presentation.xml" Id="R566c0f08856e4a2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6373bf702424c59"/>
  </p:sldMasterIdLst>
  <p:notesMasterIdLst>
    <p:notesMasterId xmlns:r="http://schemas.openxmlformats.org/officeDocument/2006/relationships" r:id="R317db604d6cd4037"/>
  </p:notesMasterIdLst>
  <p:sldIdLst>
    <p:sldId xmlns:r="http://schemas.openxmlformats.org/officeDocument/2006/relationships" id="256" r:id="Rfc3f69ffb8be4e6a"/>
    <p:sldId xmlns:r="http://schemas.openxmlformats.org/officeDocument/2006/relationships" id="257" r:id="Rc2370ce6ffc8478b"/>
    <p:sldId xmlns:r="http://schemas.openxmlformats.org/officeDocument/2006/relationships" id="258" r:id="R595f25cf0cab4a72"/>
    <p:sldId xmlns:r="http://schemas.openxmlformats.org/officeDocument/2006/relationships" id="259" r:id="Rbbdf8d9aecd64e25"/>
    <p:sldId xmlns:r="http://schemas.openxmlformats.org/officeDocument/2006/relationships" id="260" r:id="R5c6da81842bc4b39"/>
    <p:sldId xmlns:r="http://schemas.openxmlformats.org/officeDocument/2006/relationships" id="261" r:id="R19329acbac7a46d9"/>
    <p:sldId xmlns:r="http://schemas.openxmlformats.org/officeDocument/2006/relationships" id="262" r:id="R5f10a42fe8e84f42"/>
    <p:sldId xmlns:r="http://schemas.openxmlformats.org/officeDocument/2006/relationships" id="263" r:id="Rb8eea9abec374e2b"/>
    <p:sldId xmlns:r="http://schemas.openxmlformats.org/officeDocument/2006/relationships" id="264" r:id="Rf36d977f6f094ac0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93ae445fc04e5f" /><Relationship Type="http://schemas.openxmlformats.org/officeDocument/2006/relationships/slideMaster" Target="/ppt/slideMasters/slideMaster1.xml" Id="R06373bf702424c59" /><Relationship Type="http://schemas.openxmlformats.org/officeDocument/2006/relationships/notesMaster" Target="/ppt/notesMasters/notesMaster1.xml" Id="R317db604d6cd4037" /><Relationship Type="http://schemas.openxmlformats.org/officeDocument/2006/relationships/presProps" Target="/ppt/presProps.xml" Id="R80e3ccfc1c2244b0" /><Relationship Type="http://schemas.openxmlformats.org/officeDocument/2006/relationships/tableStyles" Target="/ppt/tableStyles.xml" Id="R8f3be106e2114d84" /><Relationship Type="http://schemas.openxmlformats.org/officeDocument/2006/relationships/slide" Target="/ppt/slides/slide1.xml" Id="Rfc3f69ffb8be4e6a" /><Relationship Type="http://schemas.openxmlformats.org/officeDocument/2006/relationships/slide" Target="/ppt/slides/slide2.xml" Id="Rc2370ce6ffc8478b" /><Relationship Type="http://schemas.openxmlformats.org/officeDocument/2006/relationships/slide" Target="/ppt/slides/slide3.xml" Id="R595f25cf0cab4a72" /><Relationship Type="http://schemas.openxmlformats.org/officeDocument/2006/relationships/slide" Target="/ppt/slides/slide4.xml" Id="Rbbdf8d9aecd64e25" /><Relationship Type="http://schemas.openxmlformats.org/officeDocument/2006/relationships/slide" Target="/ppt/slides/slide5.xml" Id="R5c6da81842bc4b39" /><Relationship Type="http://schemas.openxmlformats.org/officeDocument/2006/relationships/slide" Target="/ppt/slides/slide6.xml" Id="R19329acbac7a46d9" /><Relationship Type="http://schemas.openxmlformats.org/officeDocument/2006/relationships/slide" Target="/ppt/slides/slide7.xml" Id="R5f10a42fe8e84f42" /><Relationship Type="http://schemas.openxmlformats.org/officeDocument/2006/relationships/slide" Target="/ppt/slides/slide8.xml" Id="Rb8eea9abec374e2b" /><Relationship Type="http://schemas.openxmlformats.org/officeDocument/2006/relationships/slide" Target="/ppt/slides/slide9.xml" Id="Rf36d977f6f094ac0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4d8a17db2244b6f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4db4fa181346a2" /><Relationship Type="http://schemas.openxmlformats.org/officeDocument/2006/relationships/notesMaster" Target="/ppt/notesMasters/notesMaster1.xml" Id="R1817cb4462d6498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5142f384b044b9c" /><Relationship Type="http://schemas.openxmlformats.org/officeDocument/2006/relationships/notesMaster" Target="/ppt/notesMasters/notesMaster1.xml" Id="Re72bccf162f34f1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b21c2453c184377" /><Relationship Type="http://schemas.openxmlformats.org/officeDocument/2006/relationships/notesMaster" Target="/ppt/notesMasters/notesMaster1.xml" Id="R7d6ddde8cdc84a8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08fece322f34cc4" /><Relationship Type="http://schemas.openxmlformats.org/officeDocument/2006/relationships/notesMaster" Target="/ppt/notesMasters/notesMaster1.xml" Id="R412d924810974da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8dd8d5d58ed4ba1" /><Relationship Type="http://schemas.openxmlformats.org/officeDocument/2006/relationships/notesMaster" Target="/ppt/notesMasters/notesMaster1.xml" Id="R92f8579c086e4b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9ffdc6b7c49487d" /><Relationship Type="http://schemas.openxmlformats.org/officeDocument/2006/relationships/notesMaster" Target="/ppt/notesMasters/notesMaster1.xml" Id="R4dd3c0d82a3147b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759efdc6e6fa406c" /><Relationship Type="http://schemas.openxmlformats.org/officeDocument/2006/relationships/notesMaster" Target="/ppt/notesMasters/notesMaster1.xml" Id="Rabad9dace7c8436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c6246f6394e2493f" /><Relationship Type="http://schemas.openxmlformats.org/officeDocument/2006/relationships/notesMaster" Target="/ppt/notesMasters/notesMaster1.xml" Id="R972f2f8ff3734024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30361f3e77042e3" /><Relationship Type="http://schemas.openxmlformats.org/officeDocument/2006/relationships/notesMaster" Target="/ppt/notesMasters/notesMaster1.xml" Id="Rdf45a1fc0c5244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Abrir con la idea principal: Fitmi no es solamente una lista de ejercicios; une entrenamiento, alimentación y acompañamiento.</a:t>
            </a:r>
          </a:p>
          <a:p xmlns:a="http://schemas.openxmlformats.org/drawingml/2006/main">
            <a:r>
              <a:t>Presentarla como una aplicación pensada para usuarios y profesionales, con un flujo de seguimiento semanal.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Explicar el problema sin entrar en tecnología: cuando el proceso está fragmentado, baja la constancia.</a:t>
            </a:r>
          </a:p>
          <a:p xmlns:a="http://schemas.openxmlformats.org/drawingml/2006/main">
            <a:r>
              <a:t>La promesa de Fitmi es concentrar el acompañamiento diario y profesional en una misma experiencia.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slide funciona como mapa antes de mostrar pantallas.</a:t>
            </a:r>
          </a:p>
          <a:p xmlns:a="http://schemas.openxmlformats.org/drawingml/2006/main">
            <a:r>
              <a:t>Remarcar que el valor no está solo en cada módulo, sino en el recorrido completo.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Evitar contar tablas o base de datos acá; hablar de necesidades de personas.</a:t>
            </a:r>
          </a:p>
          <a:p xmlns:a="http://schemas.openxmlformats.org/drawingml/2006/main">
            <a:r>
              <a:t>Este punto prepara los casos de uso: cada demo corresponde a un rol o interacción entre roles.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No presentar esto como que Fitmi compite comercialmente con empresas enormes.</a:t>
            </a:r>
          </a:p>
          <a:p xmlns:a="http://schemas.openxmlformats.org/drawingml/2006/main">
            <a:r>
              <a:t>La comparación sirve para ubicar el valor: Fitmi integra entrenamiento, alimentación, comunidad y profesionales en el alcance del proyecto.</a:t>
            </a:r>
          </a:p>
          <a:p xmlns:a="http://schemas.openxmlformats.org/drawingml/2006/main">
            <a:r>
              <a:t>Fuentes: MyFitnessPal Help, Fitbod Help Center, Nike Help, ABC Trainerize Features.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es la slide para defender la identidad propia de Fitmi.</a:t>
            </a:r>
          </a:p>
          <a:p xmlns:a="http://schemas.openxmlformats.org/drawingml/2006/main">
            <a:r>
              <a:t>Hablar de cierre de ciclo: solicitud, asignación, cumplimiento, feedback.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Esta slide tambien puede funcionar como checklist durante la demo.</a:t>
            </a:r>
          </a:p>
          <a:p xmlns:a="http://schemas.openxmlformats.org/drawingml/2006/main">
            <a:r>
              <a:t>Si el tiempo es corto, mostrar CU2, CU4, CU5 y CU6; los demás se mencionan al pasar.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Usar datos reales o precargados para evitar pantallas vacías.</a:t>
            </a:r>
          </a:p>
          <a:p xmlns:a="http://schemas.openxmlformats.org/drawingml/2006/main">
            <a:r>
              <a:t>Mostrar primero el flujo del cliente y después el del profesional; se entiende mejor que saltar por menús.</a:t>
            </a:r>
          </a:p>
          <a:p xmlns:a="http://schemas.openxmlformats.org/drawingml/2006/main">
            <a:r>
              <a:t>Cerrar con progreso porque es donde se ve el resultado del circuito.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Cerrar volviendo a la idea de circuito completo.</a:t>
            </a:r>
          </a:p>
          <a:p xmlns:a="http://schemas.openxmlformats.org/drawingml/2006/main">
            <a:r>
              <a:t>Después de esta slide se puede abrir la app y ejecutar la demo, o usarla como cierre luego de la demo.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30528234f349d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729296b08ab470c" /><Relationship Type="http://schemas.openxmlformats.org/officeDocument/2006/relationships/slideLayout" Target="/ppt/slideLayouts/slideLayout1.xml" Id="R228ec2d6185b4e2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28ec2d6185b4e2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e7a74013d0e4e45" /><Relationship Type="http://schemas.openxmlformats.org/officeDocument/2006/relationships/notesSlide" Target="/ppt/notesSlides/notesSlide1.xml" Id="R684798ce6c53497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a5c41ae9e94792" /><Relationship Type="http://schemas.openxmlformats.org/officeDocument/2006/relationships/notesSlide" Target="/ppt/notesSlides/notesSlide2.xml" Id="R115be64a6ae64a4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4aac5c342642af" /><Relationship Type="http://schemas.openxmlformats.org/officeDocument/2006/relationships/notesSlide" Target="/ppt/notesSlides/notesSlide3.xml" Id="R9fd5809985c54aa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387ea0c2814cf7" /><Relationship Type="http://schemas.openxmlformats.org/officeDocument/2006/relationships/notesSlide" Target="/ppt/notesSlides/notesSlide4.xml" Id="Rde665e95a2b34e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4bb1c560f4e04" /><Relationship Type="http://schemas.openxmlformats.org/officeDocument/2006/relationships/notesSlide" Target="/ppt/notesSlides/notesSlide5.xml" Id="R8eb3781e66df4258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2b1483db6a400e" /><Relationship Type="http://schemas.openxmlformats.org/officeDocument/2006/relationships/notesSlide" Target="/ppt/notesSlides/notesSlide6.xml" Id="Rf882e0dee8d34cf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7f01fafb2f4192" /><Relationship Type="http://schemas.openxmlformats.org/officeDocument/2006/relationships/notesSlide" Target="/ppt/notesSlides/notesSlide7.xml" Id="Rcba3d9c6786540cd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d95397f10fa42e7" /><Relationship Type="http://schemas.openxmlformats.org/officeDocument/2006/relationships/notesSlide" Target="/ppt/notesSlides/notesSlide8.xml" Id="R21310c45ce7d433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69096132549fb" /><Relationship Type="http://schemas.openxmlformats.org/officeDocument/2006/relationships/notesSlide" Target="/ppt/notesSlides/notesSlide9.xml" Id="Ra2b25885112140c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BBF46AC-2700-4984-A819-7A51E0AF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38150"/>
            <a:ext cx="525780" cy="525780"/>
          </a:xfrm>
          <a:prstGeom xmlns:a="http://schemas.openxmlformats.org/drawingml/2006/main" prst="roundRect">
            <a:avLst>
              <a:gd name="adj" fmla="val 1449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C4EE0CD-A061-4A2F-89A4-E21861D53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8" y="668179"/>
            <a:ext cx="306705" cy="54769"/>
          </a:xfrm>
          <a:prstGeom xmlns:a="http://schemas.openxmlformats.org/drawingml/2006/main" prst="roundRect">
            <a:avLst>
              <a:gd name="adj" fmla="val 34783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A1C245-6754-4FC6-89C5-B3AFC1593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3" y="591503"/>
            <a:ext cx="87630" cy="219075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7B402B-D351-4A7F-B1A0-F89A90C1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478" y="591503"/>
            <a:ext cx="87630" cy="219075"/>
          </a:xfrm>
          <a:prstGeom xmlns:a="http://schemas.openxmlformats.org/drawingml/2006/main" prst="roundRect">
            <a:avLst>
              <a:gd name="adj" fmla="val 21739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EFF56B-25B6-4CE4-923D-93E69DE8C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562100"/>
            <a:ext cx="34290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5400" b="1">
                <a:solidFill>
                  <a:srgbClr val="050505"/>
                </a:solidFill>
              </a:defRPr>
            </a:pPr>
            <a:r>
              <a:rPr sz="5400" b="1">
                <a:solidFill>
                  <a:srgbClr val="050505"/>
                </a:solidFill>
              </a:rPr>
              <a:t>Fitmi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18F941-4DD2-444C-9EBF-08C03B9A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524125"/>
            <a:ext cx="6858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5D626B"/>
                </a:solidFill>
              </a:defRPr>
            </a:pPr>
            <a:r>
              <a:rPr sz="2025" b="0">
                <a:solidFill>
                  <a:srgbClr val="5D626B"/>
                </a:solidFill>
              </a:rPr>
              <a:t>Una app para entrenar, comer mejor y sostener el progreso con profesionales reales.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29C181-BE6C-4104-9A71-D1686D9EB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752850"/>
            <a:ext cx="2190750" cy="323850"/>
          </a:xfrm>
          <a:prstGeom xmlns:a="http://schemas.openxmlformats.org/drawingml/2006/main" prst="roundRect">
            <a:avLst>
              <a:gd name="adj" fmla="val 17647"/>
            </a:avLst>
          </a:prstGeom>
          <a:solidFill xmlns:a="http://schemas.openxmlformats.org/drawingml/2006/main">
            <a:srgbClr val="22C55E">
              <a:alpha val="13333"/>
            </a:srgbClr>
          </a:solidFill>
          <a:ln xmlns:a="http://schemas.openxmlformats.org/drawingml/2006/main" w="9525">
            <a:solidFill>
              <a:srgbClr val="22C55E">
                <a:alpha val="33333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D9D916B-5365-4447-A30C-D8B5E86EB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829050"/>
            <a:ext cx="19621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</a:defRPr>
            </a:pPr>
            <a:r>
              <a:rPr sz="975" b="1">
                <a:solidFill>
                  <a:srgbClr val="22C55E"/>
                </a:solidFill>
              </a:rPr>
              <a:t>Presentación no técnica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CB2FEFB-ED3F-4368-8BA2-8FB71320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1925" y="790575"/>
            <a:ext cx="3009900" cy="5334000"/>
          </a:xfrm>
          <a:prstGeom xmlns:a="http://schemas.openxmlformats.org/drawingml/2006/main" prst="roundRect">
            <a:avLst>
              <a:gd name="adj" fmla="val 5063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11111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3371E6-6414-45E6-B4A4-6E123423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1181100"/>
            <a:ext cx="2457450" cy="45720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90909"/>
          </a:solidFill>
          <a:ln xmlns:a="http://schemas.openxmlformats.org/drawingml/2006/main" w="9525">
            <a:solidFill>
              <a:srgbClr val="1E1E1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D4A204-E597-46EB-B85F-8BFA5D83A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485900"/>
            <a:ext cx="152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Hoy toca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A82CD0B-AC28-4ACE-87B2-32CA12FDF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1847850"/>
            <a:ext cx="18097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FFFF"/>
                </a:solidFill>
              </a:defRPr>
            </a:pPr>
            <a:r>
              <a:rPr sz="1800" b="1">
                <a:solidFill>
                  <a:srgbClr val="FFFFFF"/>
                </a:solidFill>
              </a:rPr>
              <a:t>Rutina, alimentación y progreso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BDBC409-4F34-462F-AC90-0CB77B75B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14650"/>
            <a:ext cx="184785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F1F1F"/>
          </a:solidFill>
          <a:ln xmlns:a="http://schemas.openxmlformats.org/drawingml/2006/main" w="9525">
            <a:solidFill>
              <a:srgbClr val="1F1F1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13B83F-C188-4B02-9DCD-F13F98CC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2914650"/>
            <a:ext cx="1295400" cy="952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EA86C9-796A-4AEC-B613-4BD5B92A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3162300"/>
            <a:ext cx="76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22C55E"/>
                </a:solidFill>
              </a:defRPr>
            </a:pPr>
            <a:r>
              <a:rPr sz="2325" b="1">
                <a:solidFill>
                  <a:srgbClr val="22C55E"/>
                </a:solidFill>
              </a:rPr>
              <a:t>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5BD5C91-E62F-4D7D-B807-D4D5FA7B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276600"/>
            <a:ext cx="1047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88888"/>
                </a:solidFill>
              </a:defRPr>
            </a:pPr>
            <a:r>
              <a:rPr sz="975" b="0">
                <a:solidFill>
                  <a:srgbClr val="888888"/>
                </a:solidFill>
              </a:rPr>
              <a:t>avance semanal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D57839-C605-440E-B744-5AC790D28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114800"/>
            <a:ext cx="857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Cliente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4920AA2-0240-4A27-ADC2-670267BE1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114800"/>
            <a:ext cx="109537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Entrenador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832245-B65B-4BD9-89CC-196C8317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2475" y="4495800"/>
            <a:ext cx="1524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Nutricionista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15D42E-5F37-41D9-BA4D-B33D86862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Fitmi · Presentación no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9DFB48-3701-42CF-9244-21BAFCFDF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74358640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82121CA-19A1-45D0-B0F2-DD62AA33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</a:defRPr>
            </a:pPr>
            <a:r>
              <a:rPr sz="975" b="1">
                <a:solidFill>
                  <a:srgbClr val="22C55E"/>
                </a:solidFill>
              </a:rPr>
              <a:t>CONTEXTO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B72265-9931-4D76-8B5C-87F9CC10D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La experiencia fitness suele quedar partida en varias herramientas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346F96-37B4-44B5-956C-6E2EDF72B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</a:defRPr>
            </a:pPr>
            <a:r>
              <a:rPr sz="1575" b="0">
                <a:solidFill>
                  <a:srgbClr val="5D626B"/>
                </a:solidFill>
              </a:rPr>
              <a:t>El usuario necesita entrenar, organizar su alimentación y mantenerse en contacto con quienes lo guían.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6B74BC-A54F-4798-BE27-DB144203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43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FE2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171A28-9886-41EB-8A4F-09286894B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Entrenamiento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8342C9E-A357-4026-8EA2-7C8BC0453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052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Rutinas, ejercicios y seguimiento suelen vivir en una app aparte.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9E7E22-BD6E-45CE-9651-52A006EA7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143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FE2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3EB3CB-D54A-48A1-B1F8-770B29A75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429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Alimentación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EDFFDD-BD95-4725-AB64-56C09FC70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9052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Planes, comidas y cumplimiento semanal se gestionan por otro canal.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76C432-7583-4BCE-A290-250C4702C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3143250"/>
            <a:ext cx="314325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FE2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BA5DD9-6963-4E46-8C37-944EB9772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29000"/>
            <a:ext cx="238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Acompañamiento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D9B59C-EF6D-403D-8579-8154DB1AA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476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Mensajes, ajustes y motivación terminan dispersos en chats externos.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F457D6-AE79-4201-9C1B-F553C6DD2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34000"/>
            <a:ext cx="7429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0F7A34"/>
                </a:solidFill>
              </a:defRPr>
            </a:pPr>
            <a:r>
              <a:rPr sz="2250" b="1">
                <a:solidFill>
                  <a:srgbClr val="0F7A34"/>
                </a:solidFill>
              </a:rPr>
              <a:t>Fitmi ordena esas piezas en un mismo recorrido.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342F10-D0C7-4459-BBA3-F2AAFA114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Fitmi · Presentación no técnica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B6E9E36-5FF6-4DAB-AE6D-FA4FB15208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02032380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6473793-009D-49E0-8D83-40ED874BAE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</a:defRPr>
            </a:pPr>
            <a:r>
              <a:rPr sz="975" b="1">
                <a:solidFill>
                  <a:srgbClr val="22C55E"/>
                </a:solidFill>
              </a:rPr>
              <a:t>SOLUCION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E74007-EF0A-4EF7-A83E-0E9731A6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Fitmi conecta el plan, el seguimiento y la conversación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DD7FF-F8B6-41D7-B49A-7C1D740A4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</a:defRPr>
            </a:pPr>
            <a:r>
              <a:rPr sz="1575" b="0">
                <a:solidFill>
                  <a:srgbClr val="5D626B"/>
                </a:solidFill>
              </a:rPr>
              <a:t>La aplicación acompaña tres momentos: elegir profesionales, ejecutar el plan y medir el avance.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8D8E6C9-984B-4A08-AFC9-A9E0C5904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048000"/>
            <a:ext cx="2333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2CB1121-3D1A-49FE-BB5E-2B1713C07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76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C55E"/>
                </a:solidFill>
              </a:defRPr>
            </a:pPr>
            <a:r>
              <a:rPr sz="2775" b="1">
                <a:solidFill>
                  <a:srgbClr val="22C55E"/>
                </a:solidFill>
              </a:rPr>
              <a:t>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AEA71A2-C46B-4155-BF85-4284B9BE1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67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Vincularse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FDA24B-B92E-4CED-92D4-B2C53E41E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67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El cliente solicita entrenador y nutricionista.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63E0C8-1144-437C-9010-28C6DF543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48000"/>
            <a:ext cx="2333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2DCD07-58DA-4E71-A6A9-6AC80C078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276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C55E"/>
                </a:solidFill>
              </a:defRPr>
            </a:pPr>
            <a:r>
              <a:rPr sz="2775" b="1">
                <a:solidFill>
                  <a:srgbClr val="22C55E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1908AF1-53EC-458D-B287-B1DB11FCC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867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Recibir un 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E62FDD5-2DEE-4564-B250-CDE5D02F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267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El profesional asigna rutina o plan alimenticio.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B6071AD-C2B8-4B20-B412-552F6653B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048000"/>
            <a:ext cx="2333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F357C4F-D3F3-4B3C-ACF7-41343BDF3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276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C55E"/>
                </a:solidFill>
              </a:defRPr>
            </a:pPr>
            <a:r>
              <a:rPr sz="2775" b="1">
                <a:solidFill>
                  <a:srgbClr val="22C55E"/>
                </a:solidFill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F09A82B-EE86-42B2-9627-7EDD5AE2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3867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Cumplir y registrar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DF25ED-EBB2-4106-BB3D-A714E6D16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267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El cliente marca ejercicios y comidas completadas.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E4855CB-A226-4D40-84C0-70FBED474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3048000"/>
            <a:ext cx="2333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ADD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19387F-8180-41F2-AE4C-AAB0328FE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276600"/>
            <a:ext cx="4381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22C55E"/>
                </a:solidFill>
              </a:defRPr>
            </a:pPr>
            <a:r>
              <a:rPr sz="2775" b="1">
                <a:solidFill>
                  <a:srgbClr val="22C55E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585B4D3-C476-4F9E-A168-B30579E29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3867150"/>
            <a:ext cx="1752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050505"/>
                </a:solidFill>
              </a:defRPr>
            </a:pPr>
            <a:r>
              <a:rPr sz="1725" b="1">
                <a:solidFill>
                  <a:srgbClr val="050505"/>
                </a:solidFill>
              </a:rPr>
              <a:t>Ajustar con datos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24179E-7DEA-4D57-B574-B068EA89F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426720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El progreso se comparte por email y chat.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C7776C-2A63-455A-82CB-93E1FDE2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Fitmi · Presentación no técnica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26F6480-5243-45E3-8DD5-75E16B1F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32548126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9668F8-1858-4BA2-B91E-8C0BFFB5E3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</a:defRPr>
            </a:pPr>
            <a:r>
              <a:rPr sz="975" b="1">
                <a:solidFill>
                  <a:srgbClr val="22C55E"/>
                </a:solidFill>
              </a:rPr>
              <a:t>USUARIOS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EEEDA51-DADA-4A37-A74C-57566339C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Cada rol tiene una experiencia pensada para su tarea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5A71531-F314-4986-A4B8-822ACB35D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</a:defRPr>
            </a:pPr>
            <a:r>
              <a:rPr sz="1575" b="0">
                <a:solidFill>
                  <a:srgbClr val="5D626B"/>
                </a:solidFill>
              </a:rPr>
              <a:t>La app no muestra lo mismo a todos: cambia según cliente, entrenador, nutricionista o administrador.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D53ADEA-3B1F-4576-9A96-CE6C89967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F7A34"/>
                </a:solidFill>
              </a:defRPr>
            </a:pPr>
            <a:r>
              <a:rPr sz="1875" b="1">
                <a:solidFill>
                  <a:srgbClr val="0F7A34"/>
                </a:solidFill>
              </a:rPr>
              <a:t>Cliente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1144772-1154-403F-8C4D-06E143D5C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7622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</a:defRPr>
            </a:pPr>
            <a:r>
              <a:rPr sz="1425" b="0">
                <a:solidFill>
                  <a:srgbClr val="5D626B"/>
                </a:solidFill>
              </a:rPr>
              <a:t>Busca profesionales, ve su rutina y plan, registra progreso, participa en comunidades y chatea.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41CA95-46D6-4AE9-9E68-3ABE1D49A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2385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1464C8-EC48-49DD-84D6-B4894CF0D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861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Entrenador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D6EB92-5B6B-409A-BDC5-6987D7544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5052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</a:defRPr>
            </a:pPr>
            <a:r>
              <a:rPr sz="1425" b="0">
                <a:solidFill>
                  <a:srgbClr val="5D626B"/>
                </a:solidFill>
              </a:rPr>
              <a:t>Acepta solicitudes, administra alumnos y crea rutinas personalizadas.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A06E02B-6F96-4081-B485-776299CBC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9814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383CAB-0282-49FD-9901-E6D6F900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22910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Nutricionista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810BCF5-22DD-4B47-855C-C473BE9F4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24815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</a:defRPr>
            </a:pPr>
            <a:r>
              <a:rPr sz="1425" b="0">
                <a:solidFill>
                  <a:srgbClr val="5D626B"/>
                </a:solidFill>
              </a:rPr>
              <a:t>Gestiona pacientes, solicitudes y planes alimenticios.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67FBF7-9DD5-4561-89D0-E599EE308F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72440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19425DD-E09A-4CC7-A7E9-63F8C70CC9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720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050505"/>
                </a:solidFill>
              </a:defRPr>
            </a:pPr>
            <a:r>
              <a:rPr sz="1875" b="1">
                <a:solidFill>
                  <a:srgbClr val="050505"/>
                </a:solidFill>
              </a:rPr>
              <a:t>Admin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E2E944-A5FB-4453-A97A-9128DE8E1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991100"/>
            <a:ext cx="7334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5D626B"/>
                </a:solidFill>
              </a:defRPr>
            </a:pPr>
            <a:r>
              <a:rPr sz="1425" b="0">
                <a:solidFill>
                  <a:srgbClr val="5D626B"/>
                </a:solidFill>
              </a:rPr>
              <a:t>Aprueba o rechaza profesionales antes de que puedan operar.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D9749E-199C-4223-8304-7C289DECB7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67350"/>
            <a:ext cx="9906000" cy="1428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5EA"/>
          </a:solidFill>
          <a:ln xmlns:a="http://schemas.openxmlformats.org/drawingml/2006/main" w="9525">
            <a:solidFill>
              <a:srgbClr val="E2E5EA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C3B09C-192A-454B-98A9-4C68800C9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Fitmi · Presentación no técnica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686AD55-13D1-4C3D-B18F-AF8591F3B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2852995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7BF440-18E8-4760-92C0-E70854E8A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</a:defRPr>
            </a:pPr>
            <a:r>
              <a:rPr sz="975" b="1">
                <a:solidFill>
                  <a:srgbClr val="22C55E"/>
                </a:solidFill>
              </a:rPr>
              <a:t>COMPARACIÓN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34A80D-9C23-4A9A-940E-EF0437DD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Fitmi se diferencia por unir coaching y seguimiento en una sola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CA919D5-4FFE-4A1E-BC2F-14F165C72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</a:defRPr>
            </a:pPr>
            <a:r>
              <a:rPr sz="1575" b="0">
                <a:solidFill>
                  <a:srgbClr val="5D626B"/>
                </a:solidFill>
              </a:rPr>
              <a:t>Las apps conocidas suelen enfocarse en una parte del problema; Fitmi busca cubrir el circuito completo del proyecto.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A3483D-C66A-4471-84B9-36C0D976A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686050"/>
            <a:ext cx="10858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9525">
            <a:solidFill>
              <a:srgbClr val="0B0B0B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881522-4936-4708-8A72-7C332CEA9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790825"/>
            <a:ext cx="1543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App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E2E5F-0D9C-47C8-B8B8-4B7CA1193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2790825"/>
            <a:ext cx="34480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Foco principal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C2D7664-C671-4A0F-821D-1BA535134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90825"/>
            <a:ext cx="50673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Diferencia de Fitmi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155E9A-1323-4AFA-8296-8CB51504B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08610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682BADA-6659-4282-8265-13EFDE1C0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04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26B"/>
                </a:solidFill>
              </a:defRPr>
            </a:pPr>
            <a:r>
              <a:rPr sz="1275" b="1">
                <a:solidFill>
                  <a:srgbClr val="5D626B"/>
                </a:solidFill>
              </a:rPr>
              <a:t>MyFitnessPal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92FCB3-543F-4445-AEF1-CB498A96F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2004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</a:defRPr>
            </a:pPr>
            <a:r>
              <a:rPr sz="1125" b="0">
                <a:solidFill>
                  <a:srgbClr val="5D626B"/>
                </a:solidFill>
              </a:rPr>
              <a:t>Registro de comidas, macros, ejercicio y hábitos diarios.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89A039A-6E99-443F-AC36-90ECDACF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20040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7A34"/>
                </a:solidFill>
              </a:defRPr>
            </a:pPr>
            <a:r>
              <a:rPr sz="1125" b="0">
                <a:solidFill>
                  <a:srgbClr val="0F7A34"/>
                </a:solidFill>
              </a:rPr>
              <a:t>Fitmi suma vínculo local con profesional, rutina asignada y plan alimenticio dentro del mismo flujo.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011B1-588E-4CC9-8843-E3D902784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75285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652534-F191-4FDD-B407-457B3449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671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26B"/>
                </a:solidFill>
              </a:defRPr>
            </a:pPr>
            <a:r>
              <a:rPr sz="1275" b="1">
                <a:solidFill>
                  <a:srgbClr val="5D626B"/>
                </a:solidFill>
              </a:rPr>
              <a:t>Fitbod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1F7EFAE-6003-4E0A-A383-2ACA090A4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38671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</a:defRPr>
            </a:pPr>
            <a:r>
              <a:rPr sz="1125" b="0">
                <a:solidFill>
                  <a:srgbClr val="5D626B"/>
                </a:solidFill>
              </a:rPr>
              <a:t>Entrenamientos personalizados segun objetivo, experiencia y equipamiento.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A374E1-8511-4B75-97B3-D55546D47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6715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7A34"/>
                </a:solidFill>
              </a:defRPr>
            </a:pPr>
            <a:r>
              <a:rPr sz="1125" b="0">
                <a:solidFill>
                  <a:srgbClr val="0F7A34"/>
                </a:solidFill>
              </a:rPr>
              <a:t>Fitmi no solo recomienda rutina: conecta al cliente con entrenador y seguimiento semanal.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0DBCC8-F046-4536-B9DD-A4B59C3B6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441960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7B74CD7-F673-41EE-95DF-C5E33D3C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3390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26B"/>
                </a:solidFill>
              </a:defRPr>
            </a:pPr>
            <a:r>
              <a:rPr sz="1275" b="1">
                <a:solidFill>
                  <a:srgbClr val="5D626B"/>
                </a:solidFill>
              </a:rPr>
              <a:t>Nike Training Club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8056812-2735-42AE-8669-EF2545338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53390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</a:defRPr>
            </a:pPr>
            <a:r>
              <a:rPr sz="1125" b="0">
                <a:solidFill>
                  <a:srgbClr val="5D626B"/>
                </a:solidFill>
              </a:rPr>
              <a:t>Biblioteca de clases, programas y guías de bienestar.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398E711-794F-49FD-9D4E-8A97CCFC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53390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7A34"/>
                </a:solidFill>
              </a:defRPr>
            </a:pPr>
            <a:r>
              <a:rPr sz="1125" b="0">
                <a:solidFill>
                  <a:srgbClr val="0F7A34"/>
                </a:solidFill>
              </a:rPr>
              <a:t>Fitmi prioriza acompañamiento personalizado y comunicación con profesionales.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28A7782-CADE-4C43-8FFA-A6F056B86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5086350"/>
            <a:ext cx="10858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0E5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0FD4ED-8905-4F9D-AD58-3E3919B02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200650"/>
            <a:ext cx="1543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5D626B"/>
                </a:solidFill>
              </a:defRPr>
            </a:pPr>
            <a:r>
              <a:rPr sz="1275" b="1">
                <a:solidFill>
                  <a:srgbClr val="5D626B"/>
                </a:solidFill>
              </a:rPr>
              <a:t>Trainerize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45D0DC-B601-4BDD-AB6A-B39D67CA2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5200650"/>
            <a:ext cx="34480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D626B"/>
                </a:solidFill>
              </a:defRPr>
            </a:pPr>
            <a:r>
              <a:rPr sz="1125" b="0">
                <a:solidFill>
                  <a:srgbClr val="5D626B"/>
                </a:solidFill>
              </a:rPr>
              <a:t>Software integral para entrenadores, clientes, nutrición y mensajes.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9F2B1A-B448-4D9C-9E87-1B9CE4ED4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00650"/>
            <a:ext cx="50673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0F7A34"/>
                </a:solidFill>
              </a:defRPr>
            </a:pPr>
            <a:r>
              <a:rPr sz="1125" b="0">
                <a:solidFill>
                  <a:srgbClr val="0F7A34"/>
                </a:solidFill>
              </a:rPr>
              <a:t>Fitmi toma esa lógica de acompañamiento, pero adaptada al alcance académico y a roles concretos del sistema.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952E937-88F9-4A3C-89DE-4A1332B90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Fitmi · Presentación no técnica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2DD47CC-0A49-420B-80CC-84789B0FB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9018185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970AEC-FF7E-4161-96A1-DBBF3CEF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</a:defRPr>
            </a:pPr>
            <a:r>
              <a:rPr sz="975" b="1">
                <a:solidFill>
                  <a:srgbClr val="22C55E"/>
                </a:solidFill>
              </a:rPr>
              <a:t>DIFERENCIALES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A38F9-AA13-4AEC-919F-13C7F4481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El valor no está en tener más pantallas, sino en cerrar el ciclo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73B7DD-9E03-43EB-A772-2C5E46B07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</a:defRPr>
            </a:pPr>
            <a:r>
              <a:rPr sz="1575" b="0">
                <a:solidFill>
                  <a:srgbClr val="5D626B"/>
                </a:solidFill>
              </a:rPr>
              <a:t>Fitmi convierte acciones sueltas en un seguimiento semanal que puede ser revisado por profesionales.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09AA46-F021-4FD3-A092-A28A6837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857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F7A34"/>
                </a:solidFill>
              </a:defRPr>
            </a:pPr>
            <a:r>
              <a:rPr sz="2100" b="1">
                <a:solidFill>
                  <a:srgbClr val="0F7A34"/>
                </a:solidFill>
              </a:rPr>
              <a:t>Vínculo validado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12FB0C-3355-4248-B68D-2D9B51BEB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766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El cliente no queda aislado: solicita y confirma relaciones con entrenador y nutricionista.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8975C2-3495-4353-9161-0D3D5732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814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9525">
            <a:solidFill>
              <a:srgbClr val="22C55E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85CE1C9-AC98-41D7-83DF-E9B3C7984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40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Plan accionable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D944173-58FA-449E-9C3B-07EDD93B8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196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La rutina y la alimentacion bajan a tareas concretas del dia.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5C896C-9414-46BF-9CC3-61F3B3A6E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2450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261A5-A1F6-420E-9577-94ACCD8F5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85750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Progreso visible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958E357-85AB-4F35-99E0-D8A08EFB0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7660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El avance semanal muestra cumplimiento de entrenamiento y comidas.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12ADA5-D1C3-4B89-A10E-B9FD1F51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8145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FDC91A-EA93-45CD-AF45-6A57C5FA8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400550"/>
            <a:ext cx="4000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050505"/>
                </a:solidFill>
              </a:defRPr>
            </a:pPr>
            <a:r>
              <a:rPr sz="2100" b="1">
                <a:solidFill>
                  <a:srgbClr val="050505"/>
                </a:solidFill>
              </a:rPr>
              <a:t>Comunicación directa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F88B39D-37A4-4A3E-9AF4-B15A614B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8196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Chat, notificaciones y envío de avance reducen la distancia entre usuario y profesional.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963A17-D74B-447E-B729-120A27181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24500"/>
            <a:ext cx="40005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DDE3"/>
          </a:solidFill>
          <a:ln xmlns:a="http://schemas.openxmlformats.org/drawingml/2006/main" w="9525">
            <a:solidFill>
              <a:srgbClr val="D9DDE3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D3DA18-571C-4B12-9255-DB33F63C4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Fitmi · Presentación no técnica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F695F9-4011-4009-84A0-3BD71C12B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865793041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69AF31F-46B9-4DC5-8CE8-5B9FD3D26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</a:defRPr>
            </a:pPr>
            <a:r>
              <a:rPr sz="975" b="1">
                <a:solidFill>
                  <a:srgbClr val="22C55E"/>
                </a:solidFill>
              </a:rPr>
              <a:t>CASOS DE USO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B1DA7A-8F42-4392-9298-D18E5E23B5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La demo muestra el producto desde acciones reales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44D602B-F48F-44FC-8CB4-5CA0A5381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</a:defRPr>
            </a:pPr>
            <a:r>
              <a:rPr sz="1575" b="0">
                <a:solidFill>
                  <a:srgbClr val="5D626B"/>
                </a:solidFill>
              </a:rPr>
              <a:t>Cada caso de uso corresponde a una decisión o acción que un usuario final entendería sin explicaciones técnicas.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D2C3C6-6E74-4496-AB0C-0088EDB2A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00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CU1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0259BF-4C27-4C8D-A27E-E787AE7B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242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Registrarse e iniciar sesión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0EB2571-908B-4F1D-B45A-17558226C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600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Cliente o profesional entra a la plataforma.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ADC159-F401-4230-BCA3-C1FE170B5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800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CU2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8FEBFCB-459F-4654-A0C8-E91058063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1242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Solicitar profesional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9B7A1CC-CBBB-4BD2-B019-744A68CFA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600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El cliente elige entrenador o nutricionista.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C91EC-5311-401E-B930-808227A08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8003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CU3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71DE053-BCFB-4D98-8160-4A96E1048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1242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Aceptar solicitud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E0B154-1C4F-47D6-8396-A40FEAF6C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6004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El profesional habilita la relación de trabajo.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947E033-BDCB-41E3-B10A-302746167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552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CU4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13C13F-9FD7-4DE4-BFF8-59EC3825F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876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Asignar rutina o plan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FD2559A-C871-4488-B4CF-AE2E18C10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El profesional personaliza el acompañamiento.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7E0AF88-BA1A-4CA0-92DF-9ABEB538AB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552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CU5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F1D376-7547-4636-8C6B-8D792E224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876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Registrar cumplimiento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B6729D3-1F75-4440-BDE1-2870FDC2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El cliente marca ejercicios y comidas.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E2201F8-04B1-4EEA-A71E-2AA114A06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552950"/>
            <a:ext cx="57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2C55E"/>
                </a:solidFill>
              </a:defRPr>
            </a:pPr>
            <a:r>
              <a:rPr sz="1350" b="1">
                <a:solidFill>
                  <a:srgbClr val="22C55E"/>
                </a:solidFill>
              </a:rPr>
              <a:t>CU6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A59AC1-0BE5-4F35-8664-65B832E26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4876800"/>
            <a:ext cx="2952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50505"/>
                </a:solidFill>
              </a:defRPr>
            </a:pPr>
            <a:r>
              <a:rPr sz="1575" b="1">
                <a:solidFill>
                  <a:srgbClr val="050505"/>
                </a:solidFill>
              </a:rPr>
              <a:t>Compartir avance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851FF8F-A566-43F7-9C4C-07545A533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53530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5D626B"/>
                </a:solidFill>
              </a:defRPr>
            </a:pPr>
            <a:r>
              <a:rPr sz="1200" b="0">
                <a:solidFill>
                  <a:srgbClr val="5D626B"/>
                </a:solidFill>
              </a:rPr>
              <a:t>El progreso semanal se envia y se conversa.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52D241B-8BB4-4BC9-8F89-079DA3516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Fitmi · Presentación no técnica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70D61B7-764F-43A0-BDF4-557F3C31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34348129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EE877BA-02D3-4F4C-A726-72D0CC2C3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</a:defRPr>
            </a:pPr>
            <a:r>
              <a:rPr sz="975" b="1">
                <a:solidFill>
                  <a:srgbClr val="22C55E"/>
                </a:solidFill>
              </a:rPr>
              <a:t>DEMO GUIADA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C027E1E-105F-4C83-A644-09F9337E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Recorrido sugerido para mostrar la aplicación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ED14C-2A5C-4F81-B80E-107DE14A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</a:defRPr>
            </a:pPr>
            <a:r>
              <a:rPr sz="1575" b="0">
                <a:solidFill>
                  <a:srgbClr val="5D626B"/>
                </a:solidFill>
              </a:rPr>
              <a:t>La demo conviene hacerla como una historia: un cliente entra, recibe acompañamiento y muestra su avance.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F985F02-E2DB-4E15-BAEB-0F2D6DEE3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162300"/>
            <a:ext cx="102489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CE2"/>
          </a:solidFill>
          <a:ln xmlns:a="http://schemas.openxmlformats.org/drawingml/2006/main" w="9525">
            <a:solidFill>
              <a:srgbClr val="D8DCE2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B4B08B-6D53-4A00-97A5-6D6DCACEC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2914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2C55E"/>
          </a:solidFill>
          <a:ln xmlns:a="http://schemas.openxmlformats.org/drawingml/2006/main" w="19050">
            <a:solidFill>
              <a:srgbClr val="22C55E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B8D847-64A9-4262-8261-D5CF36448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00000"/>
                </a:solidFill>
              </a:defRPr>
            </a:pPr>
            <a:r>
              <a:rPr sz="1800" b="1">
                <a:solidFill>
                  <a:srgbClr val="000000"/>
                </a:solidFill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FD3BF5-4C0E-4312-8423-18AA33694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752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Cliente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4A7BD1E-9848-42A7-83E3-25DE1C991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4171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26B"/>
                </a:solidFill>
              </a:defRPr>
            </a:pPr>
            <a:r>
              <a:rPr sz="1050" b="0">
                <a:solidFill>
                  <a:srgbClr val="5D626B"/>
                </a:solidFill>
              </a:rPr>
              <a:t>Login / dashboard inicial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BF022C8-B351-4131-887B-D75DE03CD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28900" y="2914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FC5C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BA57303-6CFC-4ADC-B7CF-FCE582DB1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0825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2823C81-E4CF-494E-BE4C-CBB68729B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3752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Vínculo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5A64C3-55FA-41D6-8AAF-F9806CC81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4171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26B"/>
                </a:solidFill>
              </a:defRPr>
            </a:pPr>
            <a:r>
              <a:rPr sz="1050" b="0">
                <a:solidFill>
                  <a:srgbClr val="5D626B"/>
                </a:solidFill>
              </a:rPr>
              <a:t>Mi entrenador y mi nutricionista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23BA00-4B11-4297-ABA7-5E31E7D0B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914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FC5CE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52FC3B-5C89-4A93-B85D-16D922A36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AD5902-C813-4808-8AC7-321C70B1E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3752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Profesional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AD9456-36AF-4512-920F-AC188C966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171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26B"/>
                </a:solidFill>
              </a:defRPr>
            </a:pPr>
            <a:r>
              <a:rPr sz="1050" b="0">
                <a:solidFill>
                  <a:srgbClr val="5D626B"/>
                </a:solidFill>
              </a:rPr>
              <a:t>Solicitudes y alumnos/pacientes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2EC40FB-0C5E-455D-B958-8307AC539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914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FC5CE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C0FD4EC-E336-4395-AA22-F5FB0B46B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75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7697466-1AB7-43F9-8F80-4BF7AFC2C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3752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Plan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72CE1B-C277-4265-9EA4-15A0C4779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2625" y="4171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26B"/>
                </a:solidFill>
              </a:defRPr>
            </a:pPr>
            <a:r>
              <a:rPr sz="1050" b="0">
                <a:solidFill>
                  <a:srgbClr val="5D626B"/>
                </a:solidFill>
              </a:rPr>
              <a:t>Rutina o alimentacion asignada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B7BEE8E-A64A-49F8-AD66-1A4A7BE26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01025" y="2914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FC5CE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CED05A1-F5B5-48B4-998F-5E32048BD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5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790F48E-D959-427C-8A8B-816E18428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752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Día a día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9037D3A-3D1D-41C0-ABD6-5F555B877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71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26B"/>
                </a:solidFill>
              </a:defRPr>
            </a:pPr>
            <a:r>
              <a:rPr sz="1050" b="0">
                <a:solidFill>
                  <a:srgbClr val="5D626B"/>
                </a:solidFill>
              </a:rPr>
              <a:t>Marcar ejercicios y comidas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DE39B79-0231-4EFC-8F53-ABB80FE64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2914650"/>
            <a:ext cx="533400" cy="533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BFC5CE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2431B88-7D5D-4AE7-8EE1-C80F3E358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0325" y="3028950"/>
            <a:ext cx="2286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6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931B1D-F4B5-48B1-8CA6-3A6DB97C3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375285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050505"/>
                </a:solidFill>
              </a:defRPr>
            </a:pPr>
            <a:r>
              <a:rPr sz="1425" b="1">
                <a:solidFill>
                  <a:srgbClr val="050505"/>
                </a:solidFill>
              </a:rPr>
              <a:t>Seguimiento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22F51CB-F0D6-4710-85FB-F7E98F357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77375" y="4171950"/>
            <a:ext cx="171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5D626B"/>
                </a:solidFill>
              </a:defRPr>
            </a:pPr>
            <a:r>
              <a:rPr sz="1050" b="0">
                <a:solidFill>
                  <a:srgbClr val="5D626B"/>
                </a:solidFill>
              </a:rPr>
              <a:t>Progreso, email, chat y comunidades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0B50366-9FC8-438E-82E2-EC7DDCC758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429250"/>
            <a:ext cx="8572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0F7A34"/>
                </a:solidFill>
              </a:defRPr>
            </a:pPr>
            <a:r>
              <a:rPr sz="1725" b="1">
                <a:solidFill>
                  <a:srgbClr val="0F7A34"/>
                </a:solidFill>
              </a:rPr>
              <a:t>Cierre del demo: mostrar que el avance queda registrado y que el profesional puede acompañar con información concreta.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091EB-A372-4EE5-A398-ADF496E9D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Fitmi · Presentación no técnica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4796597-664C-4B10-BC82-F56D6174A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00638763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B24806-598F-4E88-8A40-6F9D41BF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3619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2C55E"/>
                </a:solidFill>
              </a:defRPr>
            </a:pPr>
            <a:r>
              <a:rPr sz="975" b="1">
                <a:solidFill>
                  <a:srgbClr val="22C55E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0F0174F-180D-42E4-B666-2133892879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742950"/>
            <a:ext cx="828675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300" b="1">
                <a:solidFill>
                  <a:srgbClr val="050505"/>
                </a:solidFill>
              </a:defRPr>
            </a:pPr>
            <a:r>
              <a:rPr sz="3300" b="1">
                <a:solidFill>
                  <a:srgbClr val="050505"/>
                </a:solidFill>
              </a:rPr>
              <a:t>Fitmi demuestra un circuito completo de acompañamiento fitness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DAC96B8-84AB-4390-8C5A-289BC00EC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809750"/>
            <a:ext cx="7239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5D626B"/>
                </a:solidFill>
              </a:defRPr>
            </a:pPr>
            <a:r>
              <a:rPr sz="1575" b="0">
                <a:solidFill>
                  <a:srgbClr val="5D626B"/>
                </a:solidFill>
              </a:rPr>
              <a:t>La presentación no técnica debe dejar claro que la app resuelve una experiencia de usuario, no solamente un conjunto de formularios.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E6A60E6-1C83-4F05-B164-00BA6C475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1051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FE2E7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915DA0D-B5EE-4DB3-8BFF-191888B4B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371850"/>
            <a:ext cx="2476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Que se entiende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ED3323-4D2A-461B-9C97-33E359209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Para que sirve la app y quienes la usan.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43AF292-6623-4C02-B36C-E06041940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1051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FE2E7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8D7EBB-34F6-49E1-B7B3-EC573D19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71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Que se diferencia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760AE3B-953E-422E-B39D-4EEA55FBB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Integra profesional, plan, progreso y comunicación.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28A41C-9F2B-4D81-B053-11F1716A7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105150"/>
            <a:ext cx="333375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5"/>
          </a:solidFill>
          <a:ln xmlns:a="http://schemas.openxmlformats.org/drawingml/2006/main" w="9525">
            <a:solidFill>
              <a:srgbClr val="DFE2E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BA9C51-B283-4966-B8EA-C38BB8A2D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71850"/>
            <a:ext cx="2571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50505"/>
                </a:solidFill>
              </a:defRPr>
            </a:pPr>
            <a:r>
              <a:rPr sz="1800" b="1">
                <a:solidFill>
                  <a:srgbClr val="050505"/>
                </a:solidFill>
              </a:rPr>
              <a:t>Que se demuestra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36DD28-7C6E-4699-AC34-B1AF8D08F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848100"/>
            <a:ext cx="247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D626B"/>
                </a:solidFill>
              </a:defRPr>
            </a:pPr>
            <a:r>
              <a:rPr sz="1350" b="0">
                <a:solidFill>
                  <a:srgbClr val="5D626B"/>
                </a:solidFill>
              </a:rPr>
              <a:t>Casos de uso funcionando en un recorrido real.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1F22E2E-5D2A-446C-B0AD-2875DB302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67400"/>
            <a:ext cx="971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8A8F98"/>
                </a:solidFill>
              </a:defRPr>
            </a:pPr>
            <a:r>
              <a:rPr sz="975" b="0">
                <a:solidFill>
                  <a:srgbClr val="8A8F98"/>
                </a:solidFill>
              </a:rPr>
              <a:t>Fuentes de comparación: MyFitnessPal Help, Fitbod Help Center, Nike Help, ABC Trainerize Features.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7A1E47-EF2B-419F-9A79-3F2B3887A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4389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Fitmi · Presentación no técnica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9ABDD0-05D4-40FE-AB19-C07F99D12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10950" y="6438900"/>
            <a:ext cx="381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8A8F98"/>
                </a:solidFill>
              </a:defRPr>
            </a:pPr>
            <a:r>
              <a:rPr sz="900" b="0">
                <a:solidFill>
                  <a:srgbClr val="8A8F98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734205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2026-07-19T15:53:30.7550000Z</dcterms:created>
  <dcterms:modified xsi:type="dcterms:W3CDTF">2026-07-19T15:53:30.7550000Z</dcterms:modified>
</coreProperties>
</file>